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43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477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49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86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300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64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99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59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06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20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5039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dirty="0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042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935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347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984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757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49E-DD0B-4A4E-BB08-B084288FD910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D4119-F204-4A45-BEB1-56CEE67D51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333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 dirty="0">
              <a:latin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6D32E49E-DD0B-4A4E-BB08-B084288FD910}" type="datetimeFigureOut">
              <a:rPr lang="es-ES" smtClean="0"/>
              <a:pPr/>
              <a:t>13/02/2026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355D4119-F204-4A45-BEB1-56CEE67D51E4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231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A47F08E-BDC9-A092-E0C1-DC5BB9142E31}"/>
              </a:ext>
            </a:extLst>
          </p:cNvPr>
          <p:cNvSpPr txBox="1"/>
          <p:nvPr/>
        </p:nvSpPr>
        <p:spPr>
          <a:xfrm>
            <a:off x="399288" y="950065"/>
            <a:ext cx="113934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un entorno de comercio globalizado, un alto volumen de ventas no siempre es sinónimo de salud financiera. La motivación de este análisis surge de la necesidad de detectar </a:t>
            </a: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ineficiencias operativas ocultas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una operación de alcance mundial. A través del análisis de datos, buscamos transformar millones de registros transaccionales en </a:t>
            </a: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inteligencia accionable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identificando específicamente: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Mercados con "fugas de dinero" (altas ventas pero margen negativo).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impacto real de la política de descuentos en la utilidad neta.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Patrones de consumo que permitan segmentar a los clientes más valiosos para la compañía.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39D74D-1DC1-0B00-F716-711D2EF59585}"/>
              </a:ext>
            </a:extLst>
          </p:cNvPr>
          <p:cNvSpPr txBox="1"/>
          <p:nvPr/>
        </p:nvSpPr>
        <p:spPr>
          <a:xfrm>
            <a:off x="399288" y="3280909"/>
            <a:ext cx="112958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análisis está diseñado para fundamentar la toma de decisiones de tres grupos clave: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Dirección Ejecutiva y Financiera: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evaluar la viabilidad de mercados internacionales y redefinir estrategias corporativas.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Gerentes Regionales de Ventas: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optimizar el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productos y ajustar las estrategias de precios/descuentos por geografía.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Equipos de Logística y Operaciones: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visualizar costos de envío desproporcionados que disminuyen los márgenes de ganancia.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CD5043-8F44-614B-3E04-D52C3AEDB2BF}"/>
              </a:ext>
            </a:extLst>
          </p:cNvPr>
          <p:cNvSpPr txBox="1"/>
          <p:nvPr/>
        </p:nvSpPr>
        <p:spPr>
          <a:xfrm>
            <a:off x="3029527" y="314036"/>
            <a:ext cx="501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de mercado de Global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Superstore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60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49193CF-AD86-B080-C5ED-B4C439C68A59}"/>
              </a:ext>
            </a:extLst>
          </p:cNvPr>
          <p:cNvSpPr txBox="1"/>
          <p:nvPr/>
        </p:nvSpPr>
        <p:spPr>
          <a:xfrm>
            <a:off x="332511" y="1782251"/>
            <a:ext cx="11372850" cy="5343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ES" dirty="0"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dirty="0"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dirty="0"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ES" dirty="0"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dirty="0">
                <a:latin typeface="Calibri" panose="020F0502020204030204" pitchFamily="34" charset="0"/>
              </a:rPr>
              <a:t>Objetivo General: Optimizar la rentabilidad global mediante la detección de anomalías en descuentos y la reestructuración del portafolio de productos por región.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Roadmap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Análisis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¿Existen pérdidas de ganancia en el mercado? (Análisis de Descuentos vs. Ganancia). </a:t>
            </a:r>
            <a:endParaRPr lang="es-E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¿Qué productos deberíamos dejar de promocionar? (Análisis de Subcategorías)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¿Dónde estamos perdiendo dinero? (Análisis geográfico de pérdidas)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dirty="0">
                <a:latin typeface="Calibri" panose="020F0502020204030204" pitchFamily="34" charset="0"/>
              </a:rPr>
              <a:t>4)¿Quiénes son nuestros principales clientes?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ES" dirty="0">
              <a:latin typeface="Calibri" panose="020F050202020403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98DCC55-772F-CFB4-5848-FC89D537D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15306"/>
              </p:ext>
            </p:extLst>
          </p:nvPr>
        </p:nvGraphicFramePr>
        <p:xfrm>
          <a:off x="2210666" y="135503"/>
          <a:ext cx="8281842" cy="329349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80307">
                  <a:extLst>
                    <a:ext uri="{9D8B030D-6E8A-4147-A177-3AD203B41FA5}">
                      <a16:colId xmlns:a16="http://schemas.microsoft.com/office/drawing/2014/main" val="3958445006"/>
                    </a:ext>
                  </a:extLst>
                </a:gridCol>
                <a:gridCol w="1380307">
                  <a:extLst>
                    <a:ext uri="{9D8B030D-6E8A-4147-A177-3AD203B41FA5}">
                      <a16:colId xmlns:a16="http://schemas.microsoft.com/office/drawing/2014/main" val="3871736673"/>
                    </a:ext>
                  </a:extLst>
                </a:gridCol>
                <a:gridCol w="1380307">
                  <a:extLst>
                    <a:ext uri="{9D8B030D-6E8A-4147-A177-3AD203B41FA5}">
                      <a16:colId xmlns:a16="http://schemas.microsoft.com/office/drawing/2014/main" val="2575601708"/>
                    </a:ext>
                  </a:extLst>
                </a:gridCol>
                <a:gridCol w="1380307">
                  <a:extLst>
                    <a:ext uri="{9D8B030D-6E8A-4147-A177-3AD203B41FA5}">
                      <a16:colId xmlns:a16="http://schemas.microsoft.com/office/drawing/2014/main" val="368348519"/>
                    </a:ext>
                  </a:extLst>
                </a:gridCol>
                <a:gridCol w="1380307">
                  <a:extLst>
                    <a:ext uri="{9D8B030D-6E8A-4147-A177-3AD203B41FA5}">
                      <a16:colId xmlns:a16="http://schemas.microsoft.com/office/drawing/2014/main" val="1378985716"/>
                    </a:ext>
                  </a:extLst>
                </a:gridCol>
                <a:gridCol w="1380307">
                  <a:extLst>
                    <a:ext uri="{9D8B030D-6E8A-4147-A177-3AD203B41FA5}">
                      <a16:colId xmlns:a16="http://schemas.microsoft.com/office/drawing/2014/main" val="1789924089"/>
                    </a:ext>
                  </a:extLst>
                </a:gridCol>
              </a:tblGrid>
              <a:tr h="29912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ES" sz="105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073111"/>
                  </a:ext>
                </a:extLst>
              </a:tr>
              <a:tr h="30972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MX" sz="105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</a:t>
                      </a:r>
                      <a:r>
                        <a:rPr lang="es-MX" sz="105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lang="es-ES" sz="1050" b="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s-MX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 código único de la transacción</a:t>
                      </a:r>
                      <a:endParaRPr lang="es-ES" sz="105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Ventas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Quantity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Cantidad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710981"/>
                  </a:ext>
                </a:extLst>
              </a:tr>
              <a:tr h="299124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Date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Fecha compra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Macro-Región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Discount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Descuento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345148"/>
                  </a:ext>
                </a:extLst>
              </a:tr>
              <a:tr h="378538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Ship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Date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Fecha envío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Region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Subdivisión de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Ganancia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741351"/>
                  </a:ext>
                </a:extLst>
              </a:tr>
              <a:tr h="299124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Ship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Modo envío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Producto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Shipping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Precio Envío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152945"/>
                  </a:ext>
                </a:extLst>
              </a:tr>
              <a:tr h="299124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 Cliente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Categoría Producto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Priority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Orden de prioridad de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envio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000991"/>
                  </a:ext>
                </a:extLst>
              </a:tr>
              <a:tr h="299124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Cliente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Sub-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Subcategoria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Producto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051594"/>
                  </a:ext>
                </a:extLst>
              </a:tr>
              <a:tr h="384445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Segment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 de Cliente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Producto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48989"/>
                  </a:ext>
                </a:extLst>
              </a:tr>
              <a:tr h="299124"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City, </a:t>
                      </a:r>
                      <a:r>
                        <a:rPr lang="es-ES" sz="105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</a:t>
                      </a:r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Country</a:t>
                      </a: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Ciudad, Estado, País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683631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08A7CB9-6EEA-5F29-853A-8429FF01F03E}"/>
              </a:ext>
            </a:extLst>
          </p:cNvPr>
          <p:cNvSpPr txBox="1"/>
          <p:nvPr/>
        </p:nvSpPr>
        <p:spPr>
          <a:xfrm>
            <a:off x="546533" y="239374"/>
            <a:ext cx="1191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Referencias del </a:t>
            </a: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utilizado</a:t>
            </a:r>
          </a:p>
        </p:txBody>
      </p:sp>
    </p:spTree>
    <p:extLst>
      <p:ext uri="{BB962C8B-B14F-4D97-AF65-F5344CB8AC3E}">
        <p14:creationId xmlns:p14="http://schemas.microsoft.com/office/powerpoint/2010/main" val="68521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A5850A-7138-51FD-8592-DE58526B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4C22496-67B8-4FF1-D1AC-79ABF9E96F2A}"/>
              </a:ext>
            </a:extLst>
          </p:cNvPr>
          <p:cNvSpPr txBox="1"/>
          <p:nvPr/>
        </p:nvSpPr>
        <p:spPr>
          <a:xfrm>
            <a:off x="304038" y="1284839"/>
            <a:ext cx="9809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Hipótesis: La política de descuentos agresivos está disminuyendo el margen de ganancia en ciertas regiones sin generar un aumento proporcional en el volumen de ventas.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12C97A-116A-55B9-A555-FBBF081ED29E}"/>
              </a:ext>
            </a:extLst>
          </p:cNvPr>
          <p:cNvSpPr txBox="1"/>
          <p:nvPr/>
        </p:nvSpPr>
        <p:spPr>
          <a:xfrm>
            <a:off x="304038" y="33675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¿Existen pérdidas de ganancia en el mercado? (Análisis de Descuentos vs. Ganancia). 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193434-A0AF-92A9-34D0-8E126C3BA92B}"/>
              </a:ext>
            </a:extLst>
          </p:cNvPr>
          <p:cNvSpPr txBox="1"/>
          <p:nvPr/>
        </p:nvSpPr>
        <p:spPr>
          <a:xfrm>
            <a:off x="304038" y="2341430"/>
            <a:ext cx="6094476" cy="345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Preguntas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 es la correlación entre el nivel de Descuentos y Ganancias?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¿Existe un punto de quiebre donde la venta siempre resulta en pérdida?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categorías de productos sufren más por los descuentos excesivos?</a:t>
            </a:r>
            <a:endParaRPr lang="es-E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62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2907A9-31DF-60A3-B59F-17CC53FD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9970F9-DBAB-ABD8-89B6-48E35937D7E1}"/>
              </a:ext>
            </a:extLst>
          </p:cNvPr>
          <p:cNvSpPr txBox="1"/>
          <p:nvPr/>
        </p:nvSpPr>
        <p:spPr>
          <a:xfrm>
            <a:off x="322326" y="102433"/>
            <a:ext cx="7340346" cy="165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Respuestas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 es la correlación entre el nivel de 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Descuentos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Ganancias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313D4F-AC89-7655-0DA0-E658230E4947}"/>
              </a:ext>
            </a:extLst>
          </p:cNvPr>
          <p:cNvSpPr txBox="1"/>
          <p:nvPr/>
        </p:nvSpPr>
        <p:spPr>
          <a:xfrm>
            <a:off x="286578" y="3316460"/>
            <a:ext cx="6094476" cy="113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categorías de productos sufren más por los descuentos excesivos?</a:t>
            </a:r>
            <a:endParaRPr lang="es-ES" dirty="0">
              <a:latin typeface="Calibri" panose="020F0502020204030204" pitchFamily="34" charset="0"/>
            </a:endParaRP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045FBF56-21CF-919E-20B9-22DCCF228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757" y="735332"/>
            <a:ext cx="5296597" cy="3425780"/>
          </a:xfrm>
          <a:prstGeom prst="rect">
            <a:avLst/>
          </a:prstGeom>
        </p:spPr>
      </p:pic>
      <p:pic>
        <p:nvPicPr>
          <p:cNvPr id="6" name="Imagen 5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3901B6AB-74DB-67AD-E8D7-BD742AE12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26" y="931378"/>
            <a:ext cx="3246753" cy="284509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2DD4911-8626-60F6-DCDA-43A4AB933B31}"/>
              </a:ext>
            </a:extLst>
          </p:cNvPr>
          <p:cNvSpPr txBox="1"/>
          <p:nvPr/>
        </p:nvSpPr>
        <p:spPr>
          <a:xfrm>
            <a:off x="7052283" y="22316"/>
            <a:ext cx="4967033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¿Existe un punto de quiebre donde la venta siempre resulta en pérdida?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B1F0767-687A-1858-D314-5E38292BF7A0}"/>
              </a:ext>
            </a:extLst>
          </p:cNvPr>
          <p:cNvCxnSpPr/>
          <p:nvPr/>
        </p:nvCxnSpPr>
        <p:spPr>
          <a:xfrm flipV="1">
            <a:off x="8495330" y="1399306"/>
            <a:ext cx="0" cy="2299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02B0D174-EBA0-10FA-0F10-8E1855093DB1}"/>
              </a:ext>
            </a:extLst>
          </p:cNvPr>
          <p:cNvSpPr/>
          <p:nvPr/>
        </p:nvSpPr>
        <p:spPr>
          <a:xfrm>
            <a:off x="1549810" y="2487514"/>
            <a:ext cx="457200" cy="4206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latin typeface="Calibri" panose="020F0502020204030204" pitchFamily="34" charset="0"/>
            </a:endParaRPr>
          </a:p>
        </p:txBody>
      </p:sp>
      <p:pic>
        <p:nvPicPr>
          <p:cNvPr id="16" name="Imagen 15" descr="Gráfico&#10;&#10;El contenido generado por IA puede ser incorrecto.">
            <a:extLst>
              <a:ext uri="{FF2B5EF4-FFF2-40B4-BE49-F238E27FC236}">
                <a16:creationId xmlns:a16="http://schemas.microsoft.com/office/drawing/2014/main" id="{1E564F49-D0F4-7CFC-B591-DAEF685D9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84" y="4579413"/>
            <a:ext cx="8064831" cy="217615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8DE86C5-7CA4-3FD5-7955-53C4983B69AC}"/>
              </a:ext>
            </a:extLst>
          </p:cNvPr>
          <p:cNvSpPr txBox="1"/>
          <p:nvPr/>
        </p:nvSpPr>
        <p:spPr>
          <a:xfrm>
            <a:off x="3845782" y="993962"/>
            <a:ext cx="2258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alibri" panose="020F0502020204030204" pitchFamily="34" charset="0"/>
              </a:rPr>
              <a:t>Según este gráfico de correlaciones podemos identificar que la correlación de estas variables está siendo negativa por lo que hay que analizar este problema en el mercado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B7850B2-9C6B-65B5-5D79-043DE9E99A74}"/>
              </a:ext>
            </a:extLst>
          </p:cNvPr>
          <p:cNvSpPr txBox="1"/>
          <p:nvPr/>
        </p:nvSpPr>
        <p:spPr>
          <a:xfrm>
            <a:off x="8288633" y="4236237"/>
            <a:ext cx="37306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alibri" panose="020F0502020204030204" pitchFamily="34" charset="0"/>
              </a:rPr>
              <a:t>Mediante la gráfica superior podemos observar que los descuentos ofrecen ventajas de venta hasta un punto crítico que es el 20%. Descuentos mayores generan pérdidas, aunque debemos analizar qué categorías de producto se ven más afectado por este suceso.</a:t>
            </a:r>
          </a:p>
          <a:p>
            <a:r>
              <a:rPr lang="es-ES" sz="1200" dirty="0">
                <a:latin typeface="Calibri" panose="020F0502020204030204" pitchFamily="34" charset="0"/>
              </a:rPr>
              <a:t>A través de la gráfica inferior izquierda podemos notar que la categoría de </a:t>
            </a:r>
            <a:r>
              <a:rPr lang="es-ES" sz="1200" dirty="0" err="1">
                <a:latin typeface="Calibri" panose="020F0502020204030204" pitchFamily="34" charset="0"/>
              </a:rPr>
              <a:t>Furniture</a:t>
            </a:r>
            <a:r>
              <a:rPr lang="es-ES" sz="1200" dirty="0">
                <a:latin typeface="Calibri" panose="020F0502020204030204" pitchFamily="34" charset="0"/>
              </a:rPr>
              <a:t> (Muebles) es la más afectada por los descuentos. Debemos considerar que sus productos pueden ser de los más voluminosos por lo que el costo de envío podría estar afectando las ganancias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F430E77-3BD2-FA4A-F466-AB8F73F7FDF0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1940055" y="1692609"/>
            <a:ext cx="1898042" cy="8565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0D4A4FB-EC89-7576-BCE0-042C076EF330}"/>
              </a:ext>
            </a:extLst>
          </p:cNvPr>
          <p:cNvSpPr/>
          <p:nvPr/>
        </p:nvSpPr>
        <p:spPr>
          <a:xfrm>
            <a:off x="172684" y="4579413"/>
            <a:ext cx="2725964" cy="2176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80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A202D2-E3A6-D628-F19B-4C7E4CCE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D771625-B5E8-3CFC-BD74-10E2A6964215}"/>
              </a:ext>
            </a:extLst>
          </p:cNvPr>
          <p:cNvSpPr txBox="1"/>
          <p:nvPr/>
        </p:nvSpPr>
        <p:spPr>
          <a:xfrm>
            <a:off x="203454" y="303015"/>
            <a:ext cx="9617202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¿Qué productos deberíamos dejar de promocionar? (Análisis de Subcategorías)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A8DF06A-730E-B15E-51CD-52BF872FB8AE}"/>
              </a:ext>
            </a:extLst>
          </p:cNvPr>
          <p:cNvSpPr txBox="1"/>
          <p:nvPr/>
        </p:nvSpPr>
        <p:spPr>
          <a:xfrm>
            <a:off x="203454" y="1107978"/>
            <a:ext cx="8401050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defRPr>
                <a:effectLst/>
                <a:latin typeface="Calibri" panose="020F0502020204030204" pitchFamily="34" charset="0"/>
                <a:ea typeface="Aptos" panose="020B0004020202020204" pitchFamily="34" charset="0"/>
              </a:defRPr>
            </a:lvl1pPr>
          </a:lstStyle>
          <a:p>
            <a:r>
              <a:rPr lang="es-MX" dirty="0">
                <a:ea typeface="Calibri" panose="020F0502020204030204" pitchFamily="34" charset="0"/>
              </a:rPr>
              <a:t>Hipótesis: Ciertas subcategorías de productos (probablemente las más pesadas o voluminosas) son logísticamente ineficientes y generan pérdidas sistemáticas.</a:t>
            </a:r>
          </a:p>
          <a:p>
            <a:r>
              <a:rPr lang="es-MX" dirty="0">
                <a:ea typeface="Calibri" panose="020F0502020204030204" pitchFamily="34" charset="0"/>
              </a:rPr>
              <a:t>   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FDDF70-724A-E685-8A34-2EEA2B55868B}"/>
              </a:ext>
            </a:extLst>
          </p:cNvPr>
          <p:cNvSpPr txBox="1"/>
          <p:nvPr/>
        </p:nvSpPr>
        <p:spPr>
          <a:xfrm>
            <a:off x="203454" y="2333290"/>
            <a:ext cx="75872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defRPr>
                <a:effectLst/>
                <a:latin typeface="Calibri" panose="020F0502020204030204" pitchFamily="34" charset="0"/>
                <a:ea typeface="Aptos" panose="020B0004020202020204" pitchFamily="34" charset="0"/>
              </a:defRPr>
            </a:lvl1pPr>
          </a:lstStyle>
          <a:p>
            <a:r>
              <a:rPr lang="es-MX" dirty="0">
                <a:ea typeface="Calibri" panose="020F0502020204030204" pitchFamily="34" charset="0"/>
              </a:rPr>
              <a:t>Preguntas:</a:t>
            </a:r>
          </a:p>
          <a:p>
            <a:r>
              <a:rPr lang="es-MX" dirty="0">
                <a:ea typeface="Calibri" panose="020F0502020204030204" pitchFamily="34" charset="0"/>
              </a:rPr>
              <a:t>    </a:t>
            </a:r>
          </a:p>
          <a:p>
            <a:r>
              <a:rPr lang="es-MX" dirty="0">
                <a:ea typeface="Calibri" panose="020F0502020204030204" pitchFamily="34" charset="0"/>
                <a:cs typeface="Calibri" panose="020F0502020204030204" pitchFamily="34" charset="0"/>
              </a:rPr>
              <a:t>¿Existen subcategorías que generan pérdidas? ¿Tiene relación respecto a los costos de envío?</a:t>
            </a:r>
          </a:p>
          <a:p>
            <a:endParaRPr lang="es-MX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  <a:cs typeface="Calibri" panose="020F0502020204030204" pitchFamily="34" charset="0"/>
              </a:rPr>
              <a:t>¿Qué categoría tiene mejor ganancia?</a:t>
            </a:r>
          </a:p>
          <a:p>
            <a:endParaRPr lang="es-MX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    </a:t>
            </a:r>
          </a:p>
          <a:p>
            <a:r>
              <a:rPr lang="es-MX" dirty="0">
                <a:ea typeface="Calibri" panose="020F0502020204030204" pitchFamily="34" charset="0"/>
              </a:rPr>
              <a:t>¿Cuáles son las 3 subcategorías más rentables y las 3 menos rentables (o con pérdidas)?</a:t>
            </a:r>
          </a:p>
          <a:p>
            <a:r>
              <a:rPr lang="es-MX" dirty="0">
                <a:ea typeface="Calibri" panose="020F0502020204030204" pitchFamily="34" charset="0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359901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1C3AEC-EF5B-BE08-EA0A-CB0F4150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084F2E-1881-F6F8-AAA9-691B808A2B86}"/>
              </a:ext>
            </a:extLst>
          </p:cNvPr>
          <p:cNvSpPr txBox="1"/>
          <p:nvPr/>
        </p:nvSpPr>
        <p:spPr>
          <a:xfrm>
            <a:off x="180206" y="75121"/>
            <a:ext cx="8780913" cy="1376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Respuestas</a:t>
            </a:r>
          </a:p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¿Existen subcategorías que generan pérdidas? ¿Tiene relación respecto a los costos de envío?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4B36A5-123E-A6C9-7124-65CC1CB923E6}"/>
              </a:ext>
            </a:extLst>
          </p:cNvPr>
          <p:cNvSpPr txBox="1"/>
          <p:nvPr/>
        </p:nvSpPr>
        <p:spPr>
          <a:xfrm>
            <a:off x="5788152" y="4195780"/>
            <a:ext cx="5630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¿Cuáles son las 3 subcategorías más rentables y las 3 menos rentables (o con pérdidas)?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33AFAE-2382-D8FE-6616-3B8D2D437F92}"/>
              </a:ext>
            </a:extLst>
          </p:cNvPr>
          <p:cNvSpPr txBox="1"/>
          <p:nvPr/>
        </p:nvSpPr>
        <p:spPr>
          <a:xfrm>
            <a:off x="0" y="4214026"/>
            <a:ext cx="6444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categoría tiene mejor ganancia?</a:t>
            </a:r>
          </a:p>
        </p:txBody>
      </p:sp>
      <p:pic>
        <p:nvPicPr>
          <p:cNvPr id="8" name="Imagen 7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9DCEC3B0-03CB-AAE5-E8FE-BBD6AA7EF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42"/>
          <a:stretch>
            <a:fillRect/>
          </a:stretch>
        </p:blipFill>
        <p:spPr>
          <a:xfrm>
            <a:off x="107055" y="990481"/>
            <a:ext cx="4011930" cy="3169448"/>
          </a:xfrm>
          <a:prstGeom prst="rect">
            <a:avLst/>
          </a:prstGeom>
        </p:spPr>
      </p:pic>
      <p:pic>
        <p:nvPicPr>
          <p:cNvPr id="10" name="Imagen 9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C40C3BD4-DB25-06BA-B2C4-75C973A04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5" y="4621024"/>
            <a:ext cx="2376606" cy="2130989"/>
          </a:xfrm>
          <a:prstGeom prst="rect">
            <a:avLst/>
          </a:prstGeom>
        </p:spPr>
      </p:pic>
      <p:pic>
        <p:nvPicPr>
          <p:cNvPr id="11" name="Imagen 10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8D06410A-E8B3-DD3E-AE4C-469ACFC62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9"/>
          <a:stretch>
            <a:fillRect/>
          </a:stretch>
        </p:blipFill>
        <p:spPr>
          <a:xfrm>
            <a:off x="4269105" y="980451"/>
            <a:ext cx="3947535" cy="316944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86A8973-22AA-620D-2BFD-7A206E4E322B}"/>
              </a:ext>
            </a:extLst>
          </p:cNvPr>
          <p:cNvSpPr txBox="1"/>
          <p:nvPr/>
        </p:nvSpPr>
        <p:spPr>
          <a:xfrm>
            <a:off x="8348472" y="990481"/>
            <a:ext cx="298094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podemos observar en los gráficos a la izquierda, la subcategoría Tables (Mesas) tiene pérdidas en cuanto a ganancias posiblemente explicado por el siguiente gráfico donde se observa que es la subcategoría con mayores costos de envío y sumado a que en las </a:t>
            </a:r>
            <a:r>
              <a:rPr lang="es-E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slides</a:t>
            </a: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anteriores vimos que esta categoría tiene descuentos excesivos por lo que debería revalorizarse estos parámetros para disminuir las pérdidas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FFF179-79AA-8BA0-F79B-7F2803C83240}"/>
              </a:ext>
            </a:extLst>
          </p:cNvPr>
          <p:cNvSpPr txBox="1"/>
          <p:nvPr/>
        </p:nvSpPr>
        <p:spPr>
          <a:xfrm>
            <a:off x="5705856" y="4720688"/>
            <a:ext cx="4764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1400"/>
            </a:lvl1pPr>
          </a:lstStyle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embargo, si desglosamos en subcategorías, las Estanterías, Accesorios y Copiadoras (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Bookcases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Appliances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Copiers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respectivamente) son las más productivas en cuanto a ganancias, siendo la última la mejor por casi el doble de ganancia frente a las demás.</a:t>
            </a:r>
          </a:p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otro lado, los sujetadores, etiquetas y carpetas (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Fasteners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Binders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respectivamente) son los productos que generan menor ganancia en cuanto a ventas. </a:t>
            </a:r>
          </a:p>
          <a:p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EC98A1-6027-B385-9745-FE40CF788005}"/>
              </a:ext>
            </a:extLst>
          </p:cNvPr>
          <p:cNvSpPr txBox="1"/>
          <p:nvPr/>
        </p:nvSpPr>
        <p:spPr>
          <a:xfrm>
            <a:off x="2715641" y="4617914"/>
            <a:ext cx="23766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1400"/>
            </a:lvl1pPr>
          </a:lstStyle>
          <a:p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analizamos de más a menos, observando este gráfico podemos ver que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la categoría con mayor ganancia frente a las demás. </a:t>
            </a:r>
          </a:p>
        </p:txBody>
      </p:sp>
    </p:spTree>
    <p:extLst>
      <p:ext uri="{BB962C8B-B14F-4D97-AF65-F5344CB8AC3E}">
        <p14:creationId xmlns:p14="http://schemas.microsoft.com/office/powerpoint/2010/main" val="288496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7BB9DC-5012-80B4-A0CB-618F8AEB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6080E44-30C9-7263-14C6-21CEC8384855}"/>
              </a:ext>
            </a:extLst>
          </p:cNvPr>
          <p:cNvSpPr txBox="1"/>
          <p:nvPr/>
        </p:nvSpPr>
        <p:spPr>
          <a:xfrm>
            <a:off x="258318" y="211575"/>
            <a:ext cx="7605522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¿Dónde estamos perdiendo dinero? (Análisis geográfico de pérdidas)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9DE29D-79D8-7284-D50A-F1EAD7B7EAC5}"/>
              </a:ext>
            </a:extLst>
          </p:cNvPr>
          <p:cNvSpPr txBox="1"/>
          <p:nvPr/>
        </p:nvSpPr>
        <p:spPr>
          <a:xfrm>
            <a:off x="448056" y="1281104"/>
            <a:ext cx="9848088" cy="59803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115000"/>
              </a:lnSpc>
              <a:spcAft>
                <a:spcPts val="800"/>
              </a:spcAft>
              <a:buNone/>
              <a:defRPr kern="10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dirty="0">
                <a:ea typeface="Calibri" panose="020F0502020204030204" pitchFamily="34" charset="0"/>
              </a:rPr>
              <a:t>Hipótesis: Existen mercados específicos donde los costos operativos (o de envío) superan los ingresos, haciendo que la presencia en esos países sea insostenible.</a:t>
            </a:r>
            <a:br>
              <a:rPr lang="es-MX" dirty="0">
                <a:ea typeface="Calibri" panose="020F0502020204030204" pitchFamily="34" charset="0"/>
              </a:rPr>
            </a:br>
            <a:endParaRPr lang="es-MX" dirty="0">
              <a:ea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    Preguntas a responder:</a:t>
            </a:r>
          </a:p>
          <a:p>
            <a:endParaRPr lang="es-MX" dirty="0">
              <a:ea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¿Qué países tienen Ventas (Sales) altas, pero Ganancia (</a:t>
            </a:r>
            <a:r>
              <a:rPr lang="es-MX" dirty="0" err="1">
                <a:ea typeface="Calibri" panose="020F0502020204030204" pitchFamily="34" charset="0"/>
              </a:rPr>
              <a:t>Profit</a:t>
            </a:r>
            <a:r>
              <a:rPr lang="es-MX" dirty="0">
                <a:ea typeface="Calibri" panose="020F0502020204030204" pitchFamily="34" charset="0"/>
              </a:rPr>
              <a:t>) negativa?.</a:t>
            </a:r>
          </a:p>
          <a:p>
            <a:endParaRPr lang="es-MX" dirty="0">
              <a:ea typeface="Calibri" panose="020F0502020204030204" pitchFamily="34" charset="0"/>
            </a:endParaRPr>
          </a:p>
          <a:p>
            <a:endParaRPr lang="es-MX" dirty="0">
              <a:ea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¿Cómo varían los costos de envío (</a:t>
            </a:r>
            <a:r>
              <a:rPr lang="es-MX" dirty="0" err="1">
                <a:ea typeface="Calibri" panose="020F0502020204030204" pitchFamily="34" charset="0"/>
              </a:rPr>
              <a:t>Shipping</a:t>
            </a:r>
            <a:r>
              <a:rPr lang="es-MX" dirty="0">
                <a:ea typeface="Calibri" panose="020F0502020204030204" pitchFamily="34" charset="0"/>
              </a:rPr>
              <a:t> </a:t>
            </a:r>
            <a:r>
              <a:rPr lang="es-MX" dirty="0" err="1">
                <a:ea typeface="Calibri" panose="020F0502020204030204" pitchFamily="34" charset="0"/>
              </a:rPr>
              <a:t>Cost</a:t>
            </a:r>
            <a:r>
              <a:rPr lang="es-MX" dirty="0">
                <a:ea typeface="Calibri" panose="020F0502020204030204" pitchFamily="34" charset="0"/>
              </a:rPr>
              <a:t>) por región? ¿Son desproporcionados en algún continente?</a:t>
            </a:r>
          </a:p>
          <a:p>
            <a:r>
              <a:rPr lang="es-MX" dirty="0">
                <a:ea typeface="Calibri" panose="020F0502020204030204" pitchFamily="34" charset="0"/>
              </a:rPr>
              <a:t>       </a:t>
            </a:r>
          </a:p>
          <a:p>
            <a:endParaRPr lang="es-MX" dirty="0">
              <a:ea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 ¿Qué mercado es el más rentable en términos absolutos y cuál en términos relativos (margen)?</a:t>
            </a:r>
          </a:p>
          <a:p>
            <a:endParaRPr lang="es-MX" dirty="0">
              <a:ea typeface="Calibri" panose="020F0502020204030204" pitchFamily="34" charset="0"/>
            </a:endParaRPr>
          </a:p>
          <a:p>
            <a:r>
              <a:rPr lang="es-MX" dirty="0">
                <a:ea typeface="Calibri" panose="020F0502020204030204" pitchFamily="34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75937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3B7B8F-1131-15A8-4FC0-CA7B9945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A8B5E87-065F-5B07-DD11-8ACCB2DAC740}"/>
              </a:ext>
            </a:extLst>
          </p:cNvPr>
          <p:cNvSpPr txBox="1"/>
          <p:nvPr/>
        </p:nvSpPr>
        <p:spPr>
          <a:xfrm>
            <a:off x="230126" y="590991"/>
            <a:ext cx="563346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países tienen Ventas (Sales) altas, pero Ganancia (</a:t>
            </a:r>
            <a:r>
              <a:rPr lang="es-MX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</a:t>
            </a: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negativa?</a:t>
            </a:r>
          </a:p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podemos observar en la siguiente tabla, se ordenan de mayor a menor los países según su ganancia en ventas manteniendo una ganancia final negativa. Es crucial analizar estos países para disminuir pérdidas</a:t>
            </a:r>
          </a:p>
          <a:p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4EFB91-2047-08C8-1482-63F8827C580F}"/>
              </a:ext>
            </a:extLst>
          </p:cNvPr>
          <p:cNvSpPr txBox="1"/>
          <p:nvPr/>
        </p:nvSpPr>
        <p:spPr>
          <a:xfrm>
            <a:off x="658368" y="210312"/>
            <a:ext cx="194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</a:rPr>
              <a:t>Respuestas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F9D516-0A21-075F-15C9-755A59B2A054}"/>
              </a:ext>
            </a:extLst>
          </p:cNvPr>
          <p:cNvSpPr txBox="1"/>
          <p:nvPr/>
        </p:nvSpPr>
        <p:spPr>
          <a:xfrm>
            <a:off x="6577202" y="4116265"/>
            <a:ext cx="54623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mercado es el más rentable en términos  absolutos y cuál en términos relativos (margen)?</a:t>
            </a:r>
          </a:p>
          <a:p>
            <a:endParaRPr lang="es-MX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8FD71C-A1C1-7A0C-3C54-56407D074429}"/>
              </a:ext>
            </a:extLst>
          </p:cNvPr>
          <p:cNvSpPr txBox="1"/>
          <p:nvPr/>
        </p:nvSpPr>
        <p:spPr>
          <a:xfrm>
            <a:off x="230126" y="220871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¿Cómo varían los costos de envío (</a:t>
            </a:r>
            <a:r>
              <a:rPr lang="es-MX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</a:t>
            </a: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por región? ¿Son desproporcionados en algún continente?</a:t>
            </a:r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4E95CDCD-E5F3-0A14-7775-DBE560228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72446"/>
              </p:ext>
            </p:extLst>
          </p:nvPr>
        </p:nvGraphicFramePr>
        <p:xfrm>
          <a:off x="6467856" y="25646"/>
          <a:ext cx="5571744" cy="3657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49804">
                  <a:extLst>
                    <a:ext uri="{9D8B030D-6E8A-4147-A177-3AD203B41FA5}">
                      <a16:colId xmlns:a16="http://schemas.microsoft.com/office/drawing/2014/main" val="113019208"/>
                    </a:ext>
                  </a:extLst>
                </a:gridCol>
                <a:gridCol w="1860970">
                  <a:extLst>
                    <a:ext uri="{9D8B030D-6E8A-4147-A177-3AD203B41FA5}">
                      <a16:colId xmlns:a16="http://schemas.microsoft.com/office/drawing/2014/main" val="934425733"/>
                    </a:ext>
                  </a:extLst>
                </a:gridCol>
                <a:gridCol w="1860970">
                  <a:extLst>
                    <a:ext uri="{9D8B030D-6E8A-4147-A177-3AD203B41FA5}">
                      <a16:colId xmlns:a16="http://schemas.microsoft.com/office/drawing/2014/main" val="3098642896"/>
                    </a:ext>
                  </a:extLst>
                </a:gridCol>
              </a:tblGrid>
              <a:tr h="217389">
                <a:tc gridSpan="3">
                  <a:txBody>
                    <a:bodyPr/>
                    <a:lstStyle/>
                    <a:p>
                      <a:pPr algn="ctr"/>
                      <a:r>
                        <a:rPr lang="es-ES" sz="1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Países con 'Fugas de Dinero' (Ventas Altas / </a:t>
                      </a:r>
                      <a:r>
                        <a:rPr lang="es-ES" sz="14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  <a:r>
                        <a:rPr lang="es-ES" sz="1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Negativo)</a:t>
                      </a:r>
                      <a:endParaRPr lang="es-E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730463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País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Ventas (Sales)($)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Ganancia (</a:t>
                      </a:r>
                      <a:r>
                        <a:rPr lang="es-E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  <a:r>
                        <a:rPr lang="es-E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17236"/>
                  </a:ext>
                </a:extLst>
              </a:tr>
              <a:tr h="2221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Philippines</a:t>
                      </a:r>
                      <a:r>
                        <a:rPr lang="es-E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183420.16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-16128.22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65053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Dominican</a:t>
                      </a:r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Republic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126140.58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-7613.49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09918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Turkey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108507.94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-98447.23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156362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Honduras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90125.64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-29482.37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01171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Netherlands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77514.94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-41070.07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976511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Thailand</a:t>
                      </a:r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77051.95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-7308.19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540764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Vietnam 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65800.19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-1870.23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866496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Pakistan</a:t>
                      </a:r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58872.61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-22446.64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209245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Argentina 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57511.78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-18693.79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53988"/>
                  </a:ext>
                </a:extLst>
              </a:tr>
              <a:tr h="217389"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Nigeria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54350.35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-80750.71</a:t>
                      </a:r>
                      <a:endParaRPr lang="es-E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78696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85888093-DA44-4D14-1F12-FAF8594DD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617665"/>
              </p:ext>
            </p:extLst>
          </p:nvPr>
        </p:nvGraphicFramePr>
        <p:xfrm>
          <a:off x="152400" y="2862073"/>
          <a:ext cx="3368040" cy="370871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778816313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838767614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195189376"/>
                    </a:ext>
                  </a:extLst>
                </a:gridCol>
              </a:tblGrid>
              <a:tr h="325435">
                <a:tc gridSpan="3">
                  <a:txBody>
                    <a:bodyPr/>
                    <a:lstStyle/>
                    <a:p>
                      <a:pPr algn="ctr"/>
                      <a:r>
                        <a:rPr lang="es-MX" sz="12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10 Países con envíos más desproporcionados</a:t>
                      </a:r>
                      <a:endParaRPr lang="es-E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136682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País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Costo de envío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Ventas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36626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Taiwan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28.50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7647.63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210272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Chad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22.62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1317.03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48692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Swaziland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18.43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288.03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76566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Albania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17.97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3888.12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98949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Central </a:t>
                      </a:r>
                      <a:r>
                        <a:rPr lang="es-ES" sz="12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African</a:t>
                      </a:r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ES" sz="12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Republic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16.97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2377.56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334863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Liberia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16.71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3560.88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645152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Paraguay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16.67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2590.37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551142"/>
                  </a:ext>
                </a:extLst>
              </a:tr>
              <a:tr h="1194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Lebanon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16.13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2796.66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281648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Namibia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15.63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2899.47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89827"/>
                  </a:ext>
                </a:extLst>
              </a:tr>
              <a:tr h="271196"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Azerbaijan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15.22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5631.51</a:t>
                      </a:r>
                      <a:endParaRPr lang="es-E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599378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0DA4B655-396C-DA1A-4C90-4CA96D160AE7}"/>
              </a:ext>
            </a:extLst>
          </p:cNvPr>
          <p:cNvSpPr txBox="1"/>
          <p:nvPr/>
        </p:nvSpPr>
        <p:spPr>
          <a:xfrm>
            <a:off x="3547873" y="3282696"/>
            <a:ext cx="2176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Podemos observar en la tabla izquierda que muchos países poseen valores de costo de envío demasiado altos considerando que por encima del 15% de la compra supone un costo excesivo para obtener ganancias. Por ende, es necesario evaluar estos países para mejorar logística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D2D2286-B34F-9480-237E-6939CA16F55A}"/>
              </a:ext>
            </a:extLst>
          </p:cNvPr>
          <p:cNvSpPr txBox="1"/>
          <p:nvPr/>
        </p:nvSpPr>
        <p:spPr>
          <a:xfrm>
            <a:off x="6577203" y="4873751"/>
            <a:ext cx="53530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</a:lstStyle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Mercado más rentable en término absoluto (Más dinero generado): </a:t>
            </a:r>
          </a:p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 con $436000.05 </a:t>
            </a:r>
          </a:p>
          <a:p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Mercado más rentable en término relativo (Mejor margen): </a:t>
            </a:r>
          </a:p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Canadá con 26.62%</a:t>
            </a:r>
          </a:p>
          <a:p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Considerando este resultado, es importante prestar servicio y atención a estos mercados para que sigan rindiendo eficientemente</a:t>
            </a:r>
            <a:endParaRPr lang="es-E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5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65D23AD-9E4D-8412-D2BD-98F6C563B1C0}"/>
              </a:ext>
            </a:extLst>
          </p:cNvPr>
          <p:cNvSpPr txBox="1"/>
          <p:nvPr/>
        </p:nvSpPr>
        <p:spPr>
          <a:xfrm>
            <a:off x="349758" y="204750"/>
            <a:ext cx="609447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dirty="0">
                <a:latin typeface="Calibri" panose="020F0502020204030204" pitchFamily="34" charset="0"/>
              </a:rPr>
              <a:t>4)¿Quiénes son nuestros principales clientes?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3E1111-C4B4-A7ED-A65E-FCC7D744F71A}"/>
              </a:ext>
            </a:extLst>
          </p:cNvPr>
          <p:cNvSpPr txBox="1"/>
          <p:nvPr/>
        </p:nvSpPr>
        <p:spPr>
          <a:xfrm>
            <a:off x="349758" y="1037951"/>
            <a:ext cx="9690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Hipótesis: El segmento corporativo es más estable y rentable, mientras que el consumidor final es más sensible al precio y requiere más descuentos.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C2583A-FC5C-A67D-8490-B4D8AA444842}"/>
              </a:ext>
            </a:extLst>
          </p:cNvPr>
          <p:cNvSpPr txBox="1"/>
          <p:nvPr/>
        </p:nvSpPr>
        <p:spPr>
          <a:xfrm>
            <a:off x="523494" y="2122310"/>
            <a:ext cx="6094476" cy="3137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Preguntas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segmento de cliente aporta mayor ganancia promedio por orden?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¿Cómo es la frecuencia de compra y el valor monetario (RFM simplificado) entre los diferentes segmentos?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¿Y el RFM entre las diferentes regiones?</a:t>
            </a:r>
          </a:p>
        </p:txBody>
      </p:sp>
    </p:spTree>
    <p:extLst>
      <p:ext uri="{BB962C8B-B14F-4D97-AF65-F5344CB8AC3E}">
        <p14:creationId xmlns:p14="http://schemas.microsoft.com/office/powerpoint/2010/main" val="296590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A1E4475-8BC1-902A-EB9C-719AF5F78F24}"/>
              </a:ext>
            </a:extLst>
          </p:cNvPr>
          <p:cNvSpPr txBox="1"/>
          <p:nvPr/>
        </p:nvSpPr>
        <p:spPr>
          <a:xfrm>
            <a:off x="208026" y="27334"/>
            <a:ext cx="6094476" cy="113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Respuestas</a:t>
            </a:r>
            <a:endParaRPr lang="es-E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¿Qué segmento de cliente aporta mayor ganancia promedio por orden?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E99FA4-1668-49CE-324A-927CA8C65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79" y="1161491"/>
            <a:ext cx="4005455" cy="317754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66FBDDF-E4B4-7679-C6D5-76B0EA7C6196}"/>
              </a:ext>
            </a:extLst>
          </p:cNvPr>
          <p:cNvSpPr txBox="1"/>
          <p:nvPr/>
        </p:nvSpPr>
        <p:spPr>
          <a:xfrm>
            <a:off x="1198294" y="4430614"/>
            <a:ext cx="363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podemos observar, la ganancia promedio entre los distintos sectores es similar. Procedemos a analizar sus RFM para detectar diferencias.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1F3ACB0-9D84-7032-54FA-71A51877C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361012"/>
              </p:ext>
            </p:extLst>
          </p:nvPr>
        </p:nvGraphicFramePr>
        <p:xfrm>
          <a:off x="401385" y="5216263"/>
          <a:ext cx="3939032" cy="1280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84758">
                  <a:extLst>
                    <a:ext uri="{9D8B030D-6E8A-4147-A177-3AD203B41FA5}">
                      <a16:colId xmlns:a16="http://schemas.microsoft.com/office/drawing/2014/main" val="1225136058"/>
                    </a:ext>
                  </a:extLst>
                </a:gridCol>
                <a:gridCol w="984758">
                  <a:extLst>
                    <a:ext uri="{9D8B030D-6E8A-4147-A177-3AD203B41FA5}">
                      <a16:colId xmlns:a16="http://schemas.microsoft.com/office/drawing/2014/main" val="1874774318"/>
                    </a:ext>
                  </a:extLst>
                </a:gridCol>
                <a:gridCol w="984758">
                  <a:extLst>
                    <a:ext uri="{9D8B030D-6E8A-4147-A177-3AD203B41FA5}">
                      <a16:colId xmlns:a16="http://schemas.microsoft.com/office/drawing/2014/main" val="4254372739"/>
                    </a:ext>
                  </a:extLst>
                </a:gridCol>
                <a:gridCol w="984758">
                  <a:extLst>
                    <a:ext uri="{9D8B030D-6E8A-4147-A177-3AD203B41FA5}">
                      <a16:colId xmlns:a16="http://schemas.microsoft.com/office/drawing/2014/main" val="2081056667"/>
                    </a:ext>
                  </a:extLst>
                </a:gridCol>
              </a:tblGrid>
              <a:tr h="262721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Segmento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Recencia (días)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Frecuencia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264657"/>
                  </a:ext>
                </a:extLst>
              </a:tr>
              <a:tr h="262721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880226"/>
                  </a:ext>
                </a:extLst>
              </a:tr>
              <a:tr h="262721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Consumidor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7955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71131"/>
                  </a:ext>
                </a:extLst>
              </a:tr>
              <a:tr h="262721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Home 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54676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BA846F66-60DA-B0C2-0BDF-694B82E8E890}"/>
              </a:ext>
            </a:extLst>
          </p:cNvPr>
          <p:cNvSpPr txBox="1"/>
          <p:nvPr/>
        </p:nvSpPr>
        <p:spPr>
          <a:xfrm>
            <a:off x="4451255" y="5149254"/>
            <a:ext cx="17404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 analizar las RFM por segmento notamos leves diferencias a favor de las corporaciones en cuestión de valor total pero no son sustanciales para marcar diferencia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C8C774D-94A2-1A97-54A4-AAF68535F7BA}"/>
              </a:ext>
            </a:extLst>
          </p:cNvPr>
          <p:cNvSpPr txBox="1"/>
          <p:nvPr/>
        </p:nvSpPr>
        <p:spPr>
          <a:xfrm>
            <a:off x="6302502" y="0"/>
            <a:ext cx="6094476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¿Cómo es la frecuencia de compra y el valor monetario (RFM simplificado) entre las diferentes regiones?</a:t>
            </a: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91DBD71-FAC7-FB95-D66C-AC5100B5C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38620"/>
              </p:ext>
            </p:extLst>
          </p:nvPr>
        </p:nvGraphicFramePr>
        <p:xfrm>
          <a:off x="6302502" y="712071"/>
          <a:ext cx="5255768" cy="45041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13942">
                  <a:extLst>
                    <a:ext uri="{9D8B030D-6E8A-4147-A177-3AD203B41FA5}">
                      <a16:colId xmlns:a16="http://schemas.microsoft.com/office/drawing/2014/main" val="3027320749"/>
                    </a:ext>
                  </a:extLst>
                </a:gridCol>
                <a:gridCol w="1313942">
                  <a:extLst>
                    <a:ext uri="{9D8B030D-6E8A-4147-A177-3AD203B41FA5}">
                      <a16:colId xmlns:a16="http://schemas.microsoft.com/office/drawing/2014/main" val="1194589675"/>
                    </a:ext>
                  </a:extLst>
                </a:gridCol>
                <a:gridCol w="1313942">
                  <a:extLst>
                    <a:ext uri="{9D8B030D-6E8A-4147-A177-3AD203B41FA5}">
                      <a16:colId xmlns:a16="http://schemas.microsoft.com/office/drawing/2014/main" val="1792859746"/>
                    </a:ext>
                  </a:extLst>
                </a:gridCol>
                <a:gridCol w="1313942">
                  <a:extLst>
                    <a:ext uri="{9D8B030D-6E8A-4147-A177-3AD203B41FA5}">
                      <a16:colId xmlns:a16="http://schemas.microsoft.com/office/drawing/2014/main" val="893749509"/>
                    </a:ext>
                  </a:extLst>
                </a:gridCol>
              </a:tblGrid>
              <a:tr h="3217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400" b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Region</a:t>
                      </a:r>
                      <a:endParaRPr lang="es-E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400" b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Recencia (días)</a:t>
                      </a:r>
                      <a:endParaRPr lang="es-E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400" b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Frecuencia</a:t>
                      </a:r>
                      <a:endParaRPr lang="es-E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400" b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Valor Total</a:t>
                      </a:r>
                      <a:endParaRPr lang="es-E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5271588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East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27.11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26.80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14503.81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2876574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Central Asia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28.56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25.35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14493.20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8844769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North Asia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31.33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26.23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14165.82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063205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West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26.10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26.25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13959.23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6055831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Central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33.15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25.90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13793.37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1334250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Caribbean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22.15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25.80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13786.36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6585845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30.74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27.07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13727.41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0044359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Southeast Asia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29.34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25.21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13700.30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4741980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North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26.51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26.41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13369.98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3068283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Oceania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28.18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25.17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13229.41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2505812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Africa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139.66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6.24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2139.57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8713341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EMEA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143.93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6.48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2049.52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1896719"/>
                  </a:ext>
                </a:extLst>
              </a:tr>
              <a:tr h="3217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Canada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133.26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5.97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1920.19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6012163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69491A42-F092-7777-9E16-233F2C2883EF}"/>
              </a:ext>
            </a:extLst>
          </p:cNvPr>
          <p:cNvSpPr txBox="1"/>
          <p:nvPr/>
        </p:nvSpPr>
        <p:spPr>
          <a:xfrm>
            <a:off x="6503670" y="5333921"/>
            <a:ext cx="4716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este caso, si analizamos las RFM por región podemos detectar que África, EMEA y Canadá tienen las RFM más bajas, destacando sobre todo a Canadá que, a pesar de esto, vimos anteriormente que es el mercado con mejor margen relativo. Considerando estos datos, se debe mejorar la frecuencia de compra haciendo hincapié en este último </a:t>
            </a:r>
          </a:p>
        </p:txBody>
      </p:sp>
    </p:spTree>
    <p:extLst>
      <p:ext uri="{BB962C8B-B14F-4D97-AF65-F5344CB8AC3E}">
        <p14:creationId xmlns:p14="http://schemas.microsoft.com/office/powerpoint/2010/main" val="240095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C9098CC-9F7B-8807-F4AA-E8432B1A4304}"/>
              </a:ext>
            </a:extLst>
          </p:cNvPr>
          <p:cNvSpPr txBox="1"/>
          <p:nvPr/>
        </p:nvSpPr>
        <p:spPr>
          <a:xfrm>
            <a:off x="832104" y="685800"/>
            <a:ext cx="97840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</a:rPr>
              <a:t>Conclusiones: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>
              <a:latin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Calibri" panose="020F0502020204030204" pitchFamily="34" charset="0"/>
              </a:rPr>
              <a:t>Existe una correlación mayormente negativa entre Descuentos y Ganancia.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" dirty="0">
                <a:latin typeface="Calibri" panose="020F0502020204030204" pitchFamily="34" charset="0"/>
              </a:rPr>
              <a:t>Descuentos entre 0 y 20% generan ganancias siendo máximas en 10%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" dirty="0">
                <a:latin typeface="Calibri" panose="020F0502020204030204" pitchFamily="34" charset="0"/>
              </a:rPr>
              <a:t>Descuentos mayores al 20% producen mayormente pérdidas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" dirty="0">
                <a:latin typeface="Calibri" panose="020F0502020204030204" pitchFamily="34" charset="0"/>
              </a:rPr>
              <a:t>Se debe disminuir al máximo los descuentos en Muebles debido a que el costo de envío es demasiado alto y la suma de esto genera que las ventas produzcan pérdidas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Calibri" panose="020F0502020204030204" pitchFamily="34" charset="0"/>
              </a:rPr>
              <a:t>La categoría con mayor ganancia es Tecnología, pero si desglosamos en subcategorías,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Estanterías, Accesorios y Copiadoras son las más productivas en cuanto a ganancias, siendo la última la mejor por casi el doble de ganancia frente a las demás.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determino un TOP 10 de países con pérdidas de ganancia a pesar de su gran cantidad de ventas. En ningún caso tuvo que ver con costos de envío desproporcionados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mercado APAC resultó ser el más rentable en término absoluto mientras que el mercado de Canadá fue el más rentable en término relativo (Margen).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RFM por segmento no demostraron diferencias significativas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RFM por región demostraron que África, EMEA y Canadá están muy por debajo del resto por lo que se deben tomar acciones para restituir la frecuencia en esos mercados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488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366</TotalTime>
  <Words>1820</Words>
  <Application>Microsoft Office PowerPoint</Application>
  <PresentationFormat>Panorámica</PresentationFormat>
  <Paragraphs>303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Wingdings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Lencina</dc:creator>
  <cp:lastModifiedBy>Nicolás Lencina</cp:lastModifiedBy>
  <cp:revision>3</cp:revision>
  <dcterms:created xsi:type="dcterms:W3CDTF">2026-02-13T19:15:33Z</dcterms:created>
  <dcterms:modified xsi:type="dcterms:W3CDTF">2026-02-14T01:22:17Z</dcterms:modified>
</cp:coreProperties>
</file>